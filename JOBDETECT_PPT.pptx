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01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3200400"/>
            <a:ext cx="2743200" cy="2743200"/>
          </a:xfrm>
          <a:prstGeom prst="ellipse">
            <a:avLst/>
          </a:prstGeom>
          <a:solidFill>
            <a:srgbClr val="00D4AA">
              <a:alpha val="5000"/>
            </a:srgbClr>
          </a:solidFill>
          <a:ln w="12700">
            <a:solidFill>
              <a:srgbClr val="00D4AA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1325880"/>
            <a:ext cx="91440" cy="2331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1325880"/>
            <a:ext cx="749808" cy="7498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  <a:effectLst>
            <a:outerShdw blurRad="304800" dist="1016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9808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9808" y="214884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1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</a:t>
            </a:r>
            <a:r>
              <a:rPr lang="en-US" sz="6000" b="1" kern="0" spc="100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749808" y="3154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Job Posting Classifier &amp; Fraud Detector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9808" y="3639312"/>
            <a:ext cx="1188720" cy="301752"/>
          </a:xfrm>
          <a:prstGeom prst="rect">
            <a:avLst/>
          </a:prstGeom>
          <a:solidFill>
            <a:srgbClr val="111D2E"/>
          </a:solidFill>
          <a:ln w="1270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63931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57400" y="3639312"/>
            <a:ext cx="1188720" cy="301752"/>
          </a:xfrm>
          <a:prstGeom prst="rect">
            <a:avLst/>
          </a:prstGeom>
          <a:solidFill>
            <a:srgbClr val="111D2E"/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363931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64992" y="3639312"/>
            <a:ext cx="1188720" cy="301752"/>
          </a:xfrm>
          <a:prstGeom prst="rect">
            <a:avLst/>
          </a:prstGeom>
          <a:solidFill>
            <a:srgbClr val="111D2E"/>
          </a:solidFill>
          <a:ln w="12700">
            <a:solidFill>
              <a:srgbClr val="F5C842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63931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72584" y="3639312"/>
            <a:ext cx="1188720" cy="301752"/>
          </a:xfrm>
          <a:prstGeom prst="rect">
            <a:avLst/>
          </a:prstGeom>
          <a:solidFill>
            <a:srgbClr val="111D2E"/>
          </a:solidFill>
          <a:ln w="12700">
            <a:solidFill>
              <a:srgbClr val="FF9F43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72584" y="363931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91072" y="658368"/>
            <a:ext cx="2724912" cy="4315968"/>
          </a:xfrm>
          <a:prstGeom prst="rect">
            <a:avLst/>
          </a:prstGeom>
          <a:solidFill>
            <a:srgbClr val="080C14"/>
          </a:solidFill>
          <a:ln w="25400">
            <a:solidFill>
              <a:srgbClr val="F5C842">
                <a:alpha val="80000"/>
              </a:srgbClr>
            </a:solidFill>
            <a:prstDash val="solid"/>
          </a:ln>
          <a:effectLst>
            <a:outerShdw blurRad="304800" dist="1016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55080" y="713232"/>
            <a:ext cx="2578608" cy="420624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34343" y="662940"/>
            <a:ext cx="2578608" cy="5029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71323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DEPT OF CSE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55080" y="95097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178040" y="1298448"/>
            <a:ext cx="932688" cy="932688"/>
          </a:xfrm>
          <a:prstGeom prst="ellipse">
            <a:avLst/>
          </a:prstGeom>
          <a:solidFill>
            <a:srgbClr val="080C14"/>
          </a:solidFill>
          <a:ln w="31750">
            <a:solidFill>
              <a:srgbClr val="F5C8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42048" y="1362456"/>
            <a:ext cx="804672" cy="804672"/>
          </a:xfrm>
          <a:prstGeom prst="ellipse">
            <a:avLst/>
          </a:prstGeom>
          <a:solidFill>
            <a:srgbClr val="F5C842">
              <a:alpha val="12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78040" y="1298448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C842"/>
                </a:solidFill>
                <a:latin typeface="Arial Black" pitchFamily="34" charset="0"/>
              </a:rPr>
              <a:t>JD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059168" y="1261872"/>
            <a:ext cx="73152" cy="7315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47888" y="1261872"/>
            <a:ext cx="73152" cy="7315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59168" y="2240280"/>
            <a:ext cx="73152" cy="7315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47888" y="2240280"/>
            <a:ext cx="73152" cy="7315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0" y="2340864"/>
            <a:ext cx="2304288" cy="27432"/>
          </a:xfrm>
          <a:prstGeom prst="rect">
            <a:avLst/>
          </a:prstGeom>
          <a:solidFill>
            <a:srgbClr val="F5C842">
              <a:alpha val="50000"/>
            </a:srgbClr>
          </a:solidFill>
          <a:ln w="12700">
            <a:solidFill>
              <a:srgbClr val="F5C842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239572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MEMBERS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473952" y="2697480"/>
            <a:ext cx="2395728" cy="566928"/>
          </a:xfrm>
          <a:prstGeom prst="rect">
            <a:avLst/>
          </a:prstGeom>
          <a:solidFill>
            <a:srgbClr val="111D2E"/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73952" y="2697480"/>
            <a:ext cx="54864" cy="56692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56248" y="2770632"/>
            <a:ext cx="310896" cy="310896"/>
          </a:xfrm>
          <a:prstGeom prst="rect">
            <a:avLst/>
          </a:prstGeom>
          <a:solidFill>
            <a:srgbClr val="F5C842">
              <a:alpha val="20000"/>
            </a:srgbClr>
          </a:solidFill>
          <a:ln w="12700">
            <a:solidFill>
              <a:srgbClr val="F5C842">
                <a:alpha val="7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56248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12864" y="2770632"/>
            <a:ext cx="420624" cy="420624"/>
          </a:xfrm>
          <a:prstGeom prst="ellipse">
            <a:avLst/>
          </a:prstGeom>
          <a:solidFill>
            <a:srgbClr val="F5C842">
              <a:alpha val="18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12864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388352" y="27340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SIDDHARTHA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88352" y="29900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23891A0572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73952" y="3374136"/>
            <a:ext cx="2395728" cy="566928"/>
          </a:xfrm>
          <a:prstGeom prst="rect">
            <a:avLst/>
          </a:prstGeom>
          <a:solidFill>
            <a:srgbClr val="111D2E"/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73952" y="3374136"/>
            <a:ext cx="54864" cy="5669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56248" y="3447288"/>
            <a:ext cx="310896" cy="31089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>
                <a:alpha val="7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56248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912864" y="3447288"/>
            <a:ext cx="420624" cy="420624"/>
          </a:xfrm>
          <a:prstGeom prst="ellipse">
            <a:avLst/>
          </a:prstGeom>
          <a:solidFill>
            <a:srgbClr val="00D4AA">
              <a:alpha val="1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12864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388352" y="3410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 PAVAN KALYAN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388352" y="36667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23891A0575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73952" y="4050792"/>
            <a:ext cx="2395728" cy="566928"/>
          </a:xfrm>
          <a:prstGeom prst="rect">
            <a:avLst/>
          </a:prstGeom>
          <a:solidFill>
            <a:srgbClr val="111D2E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73952" y="4050792"/>
            <a:ext cx="54864" cy="5669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56248" y="4123944"/>
            <a:ext cx="310896" cy="310896"/>
          </a:xfrm>
          <a:prstGeom prst="rect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7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56248" y="4123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912864" y="4123944"/>
            <a:ext cx="420624" cy="420624"/>
          </a:xfrm>
          <a:prstGeom prst="ellipse">
            <a:avLst/>
          </a:prstGeom>
          <a:solidFill>
            <a:srgbClr val="4FC3F7">
              <a:alpha val="18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12864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CSE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388352" y="40873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SAI SATHWIK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388352" y="43434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23891A0576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355080" y="4828032"/>
            <a:ext cx="2578608" cy="91440"/>
          </a:xfrm>
          <a:prstGeom prst="rect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  .  CLASSIFY  .  EXPOSE  .  AI v2.0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/  PROJECT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</a:t>
            </a:r>
            <a:r>
              <a:rPr lang="en-US" sz="2400" b="1" dirty="0">
                <a:solidFill>
                  <a:srgbClr val="FFC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137160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265176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Categories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by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143000"/>
            <a:ext cx="2651760" cy="137160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43000"/>
            <a:ext cx="265176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25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1901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1488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 dataset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651760" cy="137160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43000"/>
            <a:ext cx="26517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325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~12ms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26480" y="1901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1488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classification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8229600" cy="36576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52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JOBDETECT?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JOBDETECT is a full-stack AI web application that automatically classifies job postings into 12 professional categories using Machine Learning (TF-IDF + Logistic Regression). It also detects potentially fraudulent job postings in real-time, stores all results in a database, and presents rich analytics through a modern dashboard interface.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JOBDETECT  .  AI Job Classifier  .  v2.0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We Solve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146304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64008" cy="1463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438912" cy="438912"/>
          </a:xfrm>
          <a:prstGeom prst="ellipse">
            <a:avLst/>
          </a:prstGeom>
          <a:solidFill>
            <a:srgbClr val="FF6B6B">
              <a:alpha val="18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" y="127101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Classification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1618488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spend hours manually categorizing thousands of job postings. No standardization, high error rate, inconsistent labeling.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43000"/>
            <a:ext cx="4023360" cy="146304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43000"/>
            <a:ext cx="64008" cy="14630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1280160"/>
            <a:ext cx="438912" cy="438912"/>
          </a:xfrm>
          <a:prstGeom prst="ellipse">
            <a:avLst/>
          </a:prstGeom>
          <a:solidFill>
            <a:srgbClr val="FFD700">
              <a:alpha val="18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!!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04688" y="127101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Job Postings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04688" y="1618488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fake job ads deceive seekers yearly. Phrases like 'unlimited earning' and 'no experience needed' go undetected.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64008" cy="1463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971800"/>
            <a:ext cx="438912" cy="438912"/>
          </a:xfrm>
          <a:prstGeom prst="ellipse">
            <a:avLst/>
          </a:prstGeom>
          <a:solidFill>
            <a:srgbClr val="4FC3F7">
              <a:alpha val="18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" y="296265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 Visibility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310128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lack insight into job market trends, category distribution, and hiring patterns across their postings.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834640"/>
            <a:ext cx="4023360" cy="146304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834640"/>
            <a:ext cx="64008" cy="146304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2971800"/>
            <a:ext cx="438912" cy="438912"/>
          </a:xfrm>
          <a:prstGeom prst="ellipse">
            <a:avLst/>
          </a:prstGeom>
          <a:solidFill>
            <a:srgbClr val="FF9F43">
              <a:alpha val="18000"/>
            </a:srgbClr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&gt;&gt;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04688" y="296265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Review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04688" y="3310128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time-consuming, delays hiring pipelines, and creates bottlenecks in recruitment workflows.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JOBDETECT  .  AI Job Classifier  .  v2.0</a:t>
            </a:r>
            <a:endParaRPr lang="en-US" sz="9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26099F-59FF-0EA5-41B9-AEBB58185F71}"/>
              </a:ext>
            </a:extLst>
          </p:cNvPr>
          <p:cNvSpPr txBox="1"/>
          <p:nvPr/>
        </p:nvSpPr>
        <p:spPr>
          <a:xfrm>
            <a:off x="7311683" y="490204"/>
            <a:ext cx="1738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</a:t>
            </a:r>
            <a:r>
              <a:rPr lang="en-US" sz="1800" b="1" dirty="0">
                <a:solidFill>
                  <a:srgbClr val="FFC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1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SOLUTION &amp; FEATURES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51760" cy="160020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651760" cy="45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25296"/>
            <a:ext cx="420624" cy="420624"/>
          </a:xfrm>
          <a:prstGeom prst="rect">
            <a:avLst/>
          </a:prstGeom>
          <a:solidFill>
            <a:srgbClr val="F5C842">
              <a:alpha val="2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24358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 Engine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69164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 + Logistic Regression classifies job postings into 12 categories with full confidence scores.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2651760" cy="160020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097280"/>
            <a:ext cx="265176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1225296"/>
            <a:ext cx="420624" cy="420624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124358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System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64408" y="169164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detection scans for 'unlimited earning', 'pyramid', 'make money fast' and scores fraud probability.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097280"/>
            <a:ext cx="2651760" cy="160020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097280"/>
            <a:ext cx="265176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9048" y="1225296"/>
            <a:ext cx="420624" cy="420624"/>
          </a:xfrm>
          <a:prstGeom prst="rect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124358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9048" y="169164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pie, line, radar charts and keyword cloud — all real-time as you classify more jobs.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2651760" cy="160020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880360"/>
            <a:ext cx="265176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" y="3008376"/>
            <a:ext cx="420624" cy="420624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30266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Database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" y="347472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 persisted to SQLite via async SQLAlchemy. Full history with fraud status and timestamps.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2880360"/>
            <a:ext cx="2651760" cy="160020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2880360"/>
            <a:ext cx="2651760" cy="457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64408" y="3008376"/>
            <a:ext cx="420624" cy="420624"/>
          </a:xfrm>
          <a:prstGeom prst="rect">
            <a:avLst/>
          </a:prstGeom>
          <a:solidFill>
            <a:srgbClr val="FF9F43">
              <a:alpha val="20000"/>
            </a:srgbClr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49040" y="30266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64408" y="347472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with async endpoints, CORS, Pydantic validation, auto OpenAPI docs at /docs.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89320" y="2880360"/>
            <a:ext cx="2651760" cy="160020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89320" y="2880360"/>
            <a:ext cx="2651760" cy="4572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9048" y="3008376"/>
            <a:ext cx="420624" cy="420624"/>
          </a:xfrm>
          <a:prstGeom prst="rect">
            <a:avLst/>
          </a:prstGeom>
          <a:solidFill>
            <a:srgbClr val="C084FC">
              <a:alpha val="2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9904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84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0" y="30266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Dark UI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99048" y="347472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dashboard with sidebar nav, animated confidence rings, score bars, live API status.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JOBDETECT  .  AI Job Classifier  .  v2.0</a:t>
            </a:r>
            <a:endParaRPr lang="en-US" sz="9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E58FC3-08FC-D05F-8342-7A3C29CE6E21}"/>
              </a:ext>
            </a:extLst>
          </p:cNvPr>
          <p:cNvSpPr txBox="1"/>
          <p:nvPr/>
        </p:nvSpPr>
        <p:spPr>
          <a:xfrm>
            <a:off x="7170303" y="429768"/>
            <a:ext cx="1882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</a:t>
            </a:r>
            <a:r>
              <a:rPr lang="en-US" sz="1800" b="1" dirty="0">
                <a:solidFill>
                  <a:srgbClr val="FFC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1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TECHNOLOGY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51760" cy="36118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651760" cy="411480"/>
          </a:xfrm>
          <a:prstGeom prst="rect">
            <a:avLst/>
          </a:prstGeom>
          <a:solidFill>
            <a:srgbClr val="C084FC">
              <a:alpha val="12000"/>
            </a:srgbClr>
          </a:solidFill>
          <a:ln w="1270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00784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653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03704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305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3682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 server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33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8712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09544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363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374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712464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393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8770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215384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42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3799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client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54680" y="1097280"/>
            <a:ext cx="2651760" cy="36118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1097280"/>
            <a:ext cx="2651760" cy="411480"/>
          </a:xfrm>
          <a:prstGeom prst="rect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170078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18653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220370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21305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23682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ORM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91840" y="270662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2633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aiosqlite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0" y="28712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DB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91840" y="320954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31363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74720" y="3374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91840" y="371246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36393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74720" y="38770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91840" y="421538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4142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474720" y="43799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989320" y="1097280"/>
            <a:ext cx="2651760" cy="36118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989320" y="1097280"/>
            <a:ext cx="2651760" cy="411480"/>
          </a:xfrm>
          <a:prstGeom prst="rect">
            <a:avLst/>
          </a:prstGeom>
          <a:solidFill>
            <a:srgbClr val="F5C842">
              <a:alpha val="12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/ AI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26480" y="1700784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09360" y="18653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&amp; models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26480" y="2203704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21305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309360" y="23682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feature extraction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26480" y="2706624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2633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09360" y="28712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12-class classifier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126480" y="3209544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31363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309360" y="3374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26480" y="3712464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36393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309360" y="38770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26480" y="4215384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4142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Stopwords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309360" y="43799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JOBDETECT  .  AI Job Classifier  .  v2.0</a:t>
            </a:r>
            <a:endParaRPr lang="en-US" sz="9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71D1E3F-5AF5-51AF-B958-19AF751544AB}"/>
              </a:ext>
            </a:extLst>
          </p:cNvPr>
          <p:cNvSpPr txBox="1"/>
          <p:nvPr/>
        </p:nvSpPr>
        <p:spPr>
          <a:xfrm>
            <a:off x="7315200" y="439912"/>
            <a:ext cx="1804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</a:t>
            </a:r>
            <a:r>
              <a:rPr lang="en-US" sz="1800" b="1" dirty="0">
                <a:solidFill>
                  <a:srgbClr val="FFC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1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SYSTEM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645920" cy="868680"/>
          </a:xfrm>
          <a:prstGeom prst="rect">
            <a:avLst/>
          </a:prstGeom>
          <a:solidFill>
            <a:srgbClr val="111D2E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89888"/>
            <a:ext cx="347472" cy="347472"/>
          </a:xfrm>
          <a:prstGeom prst="ellipse">
            <a:avLst/>
          </a:prstGeom>
          <a:solidFill>
            <a:srgbClr val="8FA3C0">
              <a:alpha val="30000"/>
            </a:srgbClr>
          </a:solidFill>
          <a:ln w="12700">
            <a:solidFill>
              <a:srgbClr val="8FA3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37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1755648"/>
            <a:ext cx="594360" cy="0"/>
          </a:xfrm>
          <a:prstGeom prst="line">
            <a:avLst/>
          </a:prstGeom>
          <a:noFill/>
          <a:ln w="25400">
            <a:solidFill>
              <a:srgbClr val="F5C8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143000"/>
            <a:ext cx="1828800" cy="1234440"/>
          </a:xfrm>
          <a:prstGeom prst="rect">
            <a:avLst/>
          </a:prstGeom>
          <a:solidFill>
            <a:srgbClr val="111D2E"/>
          </a:solidFill>
          <a:ln w="12700">
            <a:solidFill>
              <a:srgbClr val="C084FC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143000"/>
            <a:ext cx="1828800" cy="731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70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14600" y="14630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API calls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755648"/>
            <a:ext cx="4572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8836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92040" y="1143000"/>
            <a:ext cx="1828800" cy="1234440"/>
          </a:xfrm>
          <a:prstGeom prst="rect">
            <a:avLst/>
          </a:prstGeom>
          <a:solidFill>
            <a:srgbClr val="111D2E"/>
          </a:solidFill>
          <a:ln w="12700">
            <a:solidFill>
              <a:srgbClr val="00D4AA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1143000"/>
            <a:ext cx="18288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170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4630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+ Services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0" cy="411480"/>
          </a:xfrm>
          <a:prstGeom prst="line">
            <a:avLst/>
          </a:prstGeom>
          <a:noFill/>
          <a:ln w="25400">
            <a:solidFill>
              <a:srgbClr val="F5C8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377440"/>
            <a:ext cx="0" cy="41148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788920"/>
            <a:ext cx="1280160" cy="1051560"/>
          </a:xfrm>
          <a:prstGeom prst="rect">
            <a:avLst/>
          </a:prstGeom>
          <a:solidFill>
            <a:srgbClr val="111D2E"/>
          </a:solidFill>
          <a:ln w="12700">
            <a:solidFill>
              <a:srgbClr val="F5C8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788920"/>
            <a:ext cx="128016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8163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MODEL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09160" y="309067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LogReg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.pkl file saved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categories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2788920"/>
            <a:ext cx="1280160" cy="1051560"/>
          </a:xfrm>
          <a:prstGeom prst="rect">
            <a:avLst/>
          </a:prstGeom>
          <a:solidFill>
            <a:srgbClr val="111D2E"/>
          </a:solidFill>
          <a:ln w="12700">
            <a:solidFill>
              <a:srgbClr val="4FC3F7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2788920"/>
            <a:ext cx="12801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8163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72200" y="309067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async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+ Predictions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schemas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468880"/>
            <a:ext cx="2103120" cy="237744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487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FLOW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28072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pastes job title + description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127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React sends POST /api/jobs/classify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4472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FastAPI validates &amp; calls ML model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predicts category + confidence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087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 saved to SQLite database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407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Response returned to React UI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JOBDETECT  .  AI Job Classifier  .  v2.0</a:t>
            </a:r>
            <a:endParaRPr lang="en-US" sz="9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8E6337-C0C8-2678-6CF3-1473D1A87233}"/>
              </a:ext>
            </a:extLst>
          </p:cNvPr>
          <p:cNvSpPr txBox="1"/>
          <p:nvPr/>
        </p:nvSpPr>
        <p:spPr>
          <a:xfrm>
            <a:off x="7142871" y="443577"/>
            <a:ext cx="1828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</a:t>
            </a:r>
            <a:r>
              <a:rPr lang="en-US" sz="1800" b="1" dirty="0">
                <a:solidFill>
                  <a:srgbClr val="FFC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1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ML MODEL &amp; CATEGORIES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Classification Engine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463040" cy="804672"/>
          </a:xfrm>
          <a:prstGeom prst="rect">
            <a:avLst/>
          </a:prstGeom>
          <a:solidFill>
            <a:srgbClr val="0D1520"/>
          </a:solidFill>
          <a:ln w="12700">
            <a:solidFill>
              <a:srgbClr val="4A6080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97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description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453896"/>
            <a:ext cx="228600" cy="0"/>
          </a:xfrm>
          <a:prstGeom prst="line">
            <a:avLst/>
          </a:prstGeom>
          <a:noFill/>
          <a:ln w="19050">
            <a:solidFill>
              <a:srgbClr val="1E2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1051560"/>
            <a:ext cx="1463040" cy="804672"/>
          </a:xfrm>
          <a:prstGeom prst="rect">
            <a:avLst/>
          </a:prstGeom>
          <a:solidFill>
            <a:srgbClr val="0D1520"/>
          </a:solidFill>
          <a:ln w="12700">
            <a:solidFill>
              <a:srgbClr val="4FC3F7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1097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stopwords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1453896"/>
            <a:ext cx="228600" cy="0"/>
          </a:xfrm>
          <a:prstGeom prst="line">
            <a:avLst/>
          </a:prstGeom>
          <a:noFill/>
          <a:ln w="19050">
            <a:solidFill>
              <a:srgbClr val="1E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051560"/>
            <a:ext cx="1463040" cy="804672"/>
          </a:xfrm>
          <a:prstGeom prst="rect">
            <a:avLst/>
          </a:prstGeom>
          <a:solidFill>
            <a:srgbClr val="0D1520"/>
          </a:solidFill>
          <a:ln w="12700">
            <a:solidFill>
              <a:srgbClr val="FF9F43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1097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 features, ngrams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12080" y="1453896"/>
            <a:ext cx="228600" cy="0"/>
          </a:xfrm>
          <a:prstGeom prst="line">
            <a:avLst/>
          </a:prstGeom>
          <a:noFill/>
          <a:ln w="19050">
            <a:solidFill>
              <a:srgbClr val="1E2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0680" y="1051560"/>
            <a:ext cx="1463040" cy="804672"/>
          </a:xfrm>
          <a:prstGeom prst="rect">
            <a:avLst/>
          </a:prstGeom>
          <a:solidFill>
            <a:srgbClr val="0D1520"/>
          </a:solidFill>
          <a:ln w="12700">
            <a:solidFill>
              <a:srgbClr val="00D4AA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40680" y="1097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C=5.0, lbfgs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1453896"/>
            <a:ext cx="228600" cy="0"/>
          </a:xfrm>
          <a:prstGeom prst="line">
            <a:avLst/>
          </a:prstGeom>
          <a:noFill/>
          <a:ln w="19050">
            <a:solidFill>
              <a:srgbClr val="1E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1051560"/>
            <a:ext cx="1463040" cy="804672"/>
          </a:xfrm>
          <a:prstGeom prst="rect">
            <a:avLst/>
          </a:prstGeom>
          <a:solidFill>
            <a:srgbClr val="0D1520"/>
          </a:solidFill>
          <a:ln w="12700">
            <a:solidFill>
              <a:srgbClr val="F5C8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0" y="1097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score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JOB CATEGORIES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377440"/>
            <a:ext cx="1965960" cy="59436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377440"/>
            <a:ext cx="45720" cy="594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542032"/>
            <a:ext cx="256032" cy="256032"/>
          </a:xfrm>
          <a:prstGeom prst="ellipse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32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2377440"/>
            <a:ext cx="1965960" cy="59436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2377440"/>
            <a:ext cx="45720" cy="5943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2542032"/>
            <a:ext cx="256032" cy="256032"/>
          </a:xfrm>
          <a:prstGeom prst="ellipse">
            <a:avLst/>
          </a:prstGeom>
          <a:solidFill>
            <a:srgbClr val="F5C842">
              <a:alpha val="25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2532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2377440"/>
            <a:ext cx="1965960" cy="59436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2377440"/>
            <a:ext cx="4572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542032"/>
            <a:ext cx="256032" cy="256032"/>
          </a:xfrm>
          <a:prstGeom prst="ellipse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532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0" y="2377440"/>
            <a:ext cx="1965960" cy="59436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75120" y="2377440"/>
            <a:ext cx="45720" cy="59436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560" y="2542032"/>
            <a:ext cx="256032" cy="256032"/>
          </a:xfrm>
          <a:prstGeom prst="ellipse">
            <a:avLst/>
          </a:prstGeom>
          <a:solidFill>
            <a:srgbClr val="C084FC">
              <a:alpha val="2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2532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090672"/>
            <a:ext cx="1965960" cy="59436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090672"/>
            <a:ext cx="45720" cy="59436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3255264"/>
            <a:ext cx="256032" cy="256032"/>
          </a:xfrm>
          <a:prstGeom prst="ellipse">
            <a:avLst/>
          </a:prstGeom>
          <a:solidFill>
            <a:srgbClr val="FF9F43">
              <a:alpha val="25000"/>
            </a:srgbClr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3246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68880" y="3090672"/>
            <a:ext cx="1965960" cy="59436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68880" y="3090672"/>
            <a:ext cx="4572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0" y="3255264"/>
            <a:ext cx="256032" cy="256032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0" y="3246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0" y="3090672"/>
            <a:ext cx="1965960" cy="59436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3090672"/>
            <a:ext cx="45720" cy="5943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3255264"/>
            <a:ext cx="256032" cy="256032"/>
          </a:xfrm>
          <a:prstGeom prst="ellipse">
            <a:avLst/>
          </a:prstGeom>
          <a:solidFill>
            <a:srgbClr val="FFD700">
              <a:alpha val="2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246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675120" y="3090672"/>
            <a:ext cx="1965960" cy="59436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75120" y="3090672"/>
            <a:ext cx="45720" cy="594360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66560" y="3255264"/>
            <a:ext cx="256032" cy="256032"/>
          </a:xfrm>
          <a:prstGeom prst="ellipse">
            <a:avLst/>
          </a:prstGeom>
          <a:solidFill>
            <a:srgbClr val="A29BFE">
              <a:alpha val="25000"/>
            </a:srgbClr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0" y="3246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3803904"/>
            <a:ext cx="1965960" cy="59436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" y="3803904"/>
            <a:ext cx="45720" cy="594360"/>
          </a:xfrm>
          <a:prstGeom prst="rect">
            <a:avLst/>
          </a:prstGeom>
          <a:solidFill>
            <a:srgbClr val="FD79A8"/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3968496"/>
            <a:ext cx="256032" cy="256032"/>
          </a:xfrm>
          <a:prstGeom prst="ellipse">
            <a:avLst/>
          </a:prstGeom>
          <a:solidFill>
            <a:srgbClr val="FD79A8">
              <a:alpha val="25000"/>
            </a:srgbClr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" y="39593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468880" y="3803904"/>
            <a:ext cx="1965960" cy="59436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468880" y="3803904"/>
            <a:ext cx="45720" cy="594360"/>
          </a:xfrm>
          <a:prstGeom prst="rect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60320" y="3968496"/>
            <a:ext cx="256032" cy="256032"/>
          </a:xfrm>
          <a:prstGeom prst="ellipse">
            <a:avLst/>
          </a:prstGeom>
          <a:solidFill>
            <a:srgbClr val="55EFC4">
              <a:alpha val="25000"/>
            </a:srgbClr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0" y="39593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72000" y="3803904"/>
            <a:ext cx="1965960" cy="59436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0" y="3803904"/>
            <a:ext cx="45720" cy="594360"/>
          </a:xfrm>
          <a:prstGeom prst="rect">
            <a:avLst/>
          </a:prstGeom>
          <a:solidFill>
            <a:srgbClr val="B2BEC3"/>
          </a:solidFill>
          <a:ln w="12700">
            <a:solidFill>
              <a:srgbClr val="B2BEC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63440" y="3968496"/>
            <a:ext cx="256032" cy="256032"/>
          </a:xfrm>
          <a:prstGeom prst="ellipse">
            <a:avLst/>
          </a:prstGeom>
          <a:solidFill>
            <a:srgbClr val="B2BEC3">
              <a:alpha val="25000"/>
            </a:srgbClr>
          </a:solidFill>
          <a:ln w="12700">
            <a:solidFill>
              <a:srgbClr val="B2BEC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0" y="39593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675120" y="3803904"/>
            <a:ext cx="1965960" cy="59436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675120" y="3803904"/>
            <a:ext cx="45720" cy="594360"/>
          </a:xfrm>
          <a:prstGeom prst="rect">
            <a:avLst/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766560" y="3968496"/>
            <a:ext cx="256032" cy="256032"/>
          </a:xfrm>
          <a:prstGeom prst="ellipse">
            <a:avLst/>
          </a:prstGeom>
          <a:solidFill>
            <a:srgbClr val="74B9FF">
              <a:alpha val="25000"/>
            </a:srgbClr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32320" y="39593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JOBDETECT  .  AI Job Classifier  .  v2.0</a:t>
            </a:r>
            <a:endParaRPr lang="en-US" sz="9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82170A-6EF4-3AE2-9D5D-DA5DA5A2DD9C}"/>
              </a:ext>
            </a:extLst>
          </p:cNvPr>
          <p:cNvSpPr txBox="1"/>
          <p:nvPr/>
        </p:nvSpPr>
        <p:spPr>
          <a:xfrm>
            <a:off x="7185073" y="438126"/>
            <a:ext cx="1832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</a:t>
            </a:r>
            <a:r>
              <a:rPr lang="en-US" sz="1800" b="1" dirty="0">
                <a:solidFill>
                  <a:srgbClr val="FFC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1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/  DASHBOARD &amp; 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Screens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51760" cy="36118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651760" cy="384048"/>
          </a:xfrm>
          <a:prstGeom prst="rect">
            <a:avLst/>
          </a:prstGeom>
          <a:solidFill>
            <a:srgbClr val="F5C842">
              <a:alpha val="15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Tab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691640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58191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 &amp; Description input form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185416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075688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Example button for quick testing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" y="2679192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56946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Location / Salary fields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172968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306324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JOB button with loading state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" y="3666744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355701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confidence ring on results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" y="4160520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05079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badge (Authentic / Fraud)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1097280"/>
            <a:ext cx="2651760" cy="36118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1097280"/>
            <a:ext cx="2651760" cy="384048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1097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Tab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19272" y="1691640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3864" y="158191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past classifications in a table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9272" y="2185416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83864" y="2075688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with color coding per row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19272" y="2679192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83864" y="256946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confidence progress bars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19272" y="3172968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83864" y="306324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status badges per record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9272" y="3666744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3864" y="355701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in milliseconds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19272" y="4160520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83864" y="405079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of each classification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89320" y="1097280"/>
            <a:ext cx="2651760" cy="36118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  <a:effectLst>
            <a:outerShdw blurRad="203200" dist="635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89320" y="1097280"/>
            <a:ext cx="2651760" cy="384048"/>
          </a:xfrm>
          <a:prstGeom prst="rect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1097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Tab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53912" y="1691640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8504" y="158191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category distribution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53912" y="2185416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18504" y="2075688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— share by category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53912" y="2679192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18504" y="256946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daily trends (30 days)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53912" y="3172968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18504" y="306324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— spider category view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53912" y="3666744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18504" y="355701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cloud — frequent words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53912" y="4160520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18504" y="405079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summary stat widgets at the top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JOBDETECT  .  AI Job Classifier  .  v2.0</a:t>
            </a:r>
            <a:endParaRPr lang="en-US" sz="9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B257DA-F2A8-4FD4-1269-2662D5D3BCE8}"/>
              </a:ext>
            </a:extLst>
          </p:cNvPr>
          <p:cNvSpPr txBox="1"/>
          <p:nvPr/>
        </p:nvSpPr>
        <p:spPr>
          <a:xfrm>
            <a:off x="7081325" y="473702"/>
            <a:ext cx="1832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</a:t>
            </a:r>
            <a:r>
              <a:rPr lang="en-US" sz="1800" b="1" dirty="0">
                <a:solidFill>
                  <a:srgbClr val="FFC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1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286000"/>
            <a:ext cx="5486400" cy="5486400"/>
          </a:xfrm>
          <a:prstGeom prst="ellipse">
            <a:avLst/>
          </a:prstGeom>
          <a:solidFill>
            <a:srgbClr val="F5C842">
              <a:alpha val="5000"/>
            </a:srgbClr>
          </a:solidFill>
          <a:ln w="12700">
            <a:solidFill>
              <a:srgbClr val="F5C842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-2286000" y="-1371600"/>
            <a:ext cx="4572000" cy="4572000"/>
          </a:xfrm>
          <a:prstGeom prst="ellipse">
            <a:avLst/>
          </a:prstGeom>
          <a:solidFill>
            <a:srgbClr val="00D4AA">
              <a:alpha val="5000"/>
            </a:srgbClr>
          </a:solidFill>
          <a:ln w="12700">
            <a:solidFill>
              <a:srgbClr val="00D4AA">
                <a:alpha val="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/  CONCLUSION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749808"/>
            <a:ext cx="73152" cy="16916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74980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</a:t>
            </a:r>
            <a:r>
              <a:rPr lang="en-US" sz="5400" b="1" kern="0" spc="100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777240" y="1600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Detect. Classify. Expose.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2148840"/>
            <a:ext cx="274320" cy="274320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212140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web app — FastAPI + React + scikit-learn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7240" y="2551176"/>
            <a:ext cx="274320" cy="274320"/>
          </a:xfrm>
          <a:prstGeom prst="rect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252374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12-category job classifier with 100% test accuracy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7240" y="2953512"/>
            <a:ext cx="274320" cy="274320"/>
          </a:xfrm>
          <a:prstGeom prst="rect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29260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with red-flag phrase analysis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77240" y="3355848"/>
            <a:ext cx="274320" cy="274320"/>
          </a:xfrm>
          <a:prstGeom prst="rect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3000" y="332841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— charts, trends, keywords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77240" y="3758184"/>
            <a:ext cx="274320" cy="274320"/>
          </a:xfrm>
          <a:prstGeom prst="rect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37307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with Docker, Nginx and SQLite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675120" y="1051560"/>
            <a:ext cx="2176272" cy="3017520"/>
          </a:xfrm>
          <a:prstGeom prst="rect">
            <a:avLst/>
          </a:prstGeom>
          <a:solidFill>
            <a:srgbClr val="0D1520"/>
          </a:solidFill>
          <a:ln w="12700">
            <a:solidFill>
              <a:srgbClr val="F5C842"/>
            </a:solidFill>
            <a:prstDash val="solid"/>
          </a:ln>
          <a:effectLst>
            <a:outerShdw blurRad="304800" dist="1016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75120" y="1051560"/>
            <a:ext cx="2176272" cy="5029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10515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443216" y="1719072"/>
            <a:ext cx="640080" cy="640080"/>
          </a:xfrm>
          <a:prstGeom prst="ellipse">
            <a:avLst/>
          </a:prstGeom>
          <a:solidFill>
            <a:srgbClr val="F5C842">
              <a:alpha val="18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43216" y="1719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76288" y="2432304"/>
            <a:ext cx="1773936" cy="0"/>
          </a:xfrm>
          <a:prstGeom prst="line">
            <a:avLst/>
          </a:prstGeom>
          <a:noFill/>
          <a:ln w="12700">
            <a:solidFill>
              <a:srgbClr val="1E2D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248716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passion using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React + AI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876288" y="3145536"/>
            <a:ext cx="1773936" cy="0"/>
          </a:xfrm>
          <a:prstGeom prst="line">
            <a:avLst/>
          </a:prstGeom>
          <a:noFill/>
          <a:ln w="12700">
            <a:solidFill>
              <a:srgbClr val="1E2D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320040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520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JOBDETECT  .  AI Job Classifier  .  v2.0  .  Dept of CSE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842</Words>
  <Application>Microsoft Office PowerPoint</Application>
  <PresentationFormat>On-screen Show (16:9)</PresentationFormat>
  <Paragraphs>221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JOBDETECT — AI Job Classifier</dc:title>
  <dc:subject>PptxGenJS Presentation</dc:subject>
  <dc:creator>PptxGenJS</dc:creator>
  <cp:lastModifiedBy>pavan kalyan</cp:lastModifiedBy>
  <cp:revision>3</cp:revision>
  <dcterms:created xsi:type="dcterms:W3CDTF">2026-03-20T13:23:37Z</dcterms:created>
  <dcterms:modified xsi:type="dcterms:W3CDTF">2026-03-20T15:45:47Z</dcterms:modified>
</cp:coreProperties>
</file>